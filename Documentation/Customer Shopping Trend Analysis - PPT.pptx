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Caveat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EC5F5E-4E96-4C25-8DBB-0ED721565026}">
  <a:tblStyle styleId="{E2EC5F5E-4E96-4C25-8DBB-0ED72156502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veat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Caveat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71687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Customer Shopping Trend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281487"/>
            <a:ext cx="8572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From Data to Dashboard: Leveraging Python, SQL, and Power BI for Actionable Insights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28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123897" y="1812897"/>
            <a:ext cx="87861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Analyze Sales Drivers:</a:t>
            </a:r>
            <a:r>
              <a:rPr b="0" i="0" lang="en-US" sz="18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Use 3,500 transactions to understand core sales performance and retention.</a:t>
            </a:r>
            <a:endParaRPr sz="1600"/>
          </a:p>
        </p:txBody>
      </p:sp>
      <p:sp>
        <p:nvSpPr>
          <p:cNvPr id="93" name="Google Shape;93;p14"/>
          <p:cNvSpPr txBox="1"/>
          <p:nvPr/>
        </p:nvSpPr>
        <p:spPr>
          <a:xfrm>
            <a:off x="2123897" y="2844816"/>
            <a:ext cx="87861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Segment Customers:</a:t>
            </a:r>
            <a:r>
              <a:rPr b="0" i="0" lang="en-US" sz="18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Dissect purchase behaviors to identify high-value customer segments.</a:t>
            </a:r>
            <a:endParaRPr sz="1600"/>
          </a:p>
        </p:txBody>
      </p:sp>
      <p:sp>
        <p:nvSpPr>
          <p:cNvPr id="94" name="Google Shape;94;p14"/>
          <p:cNvSpPr txBox="1"/>
          <p:nvPr/>
        </p:nvSpPr>
        <p:spPr>
          <a:xfrm>
            <a:off x="2123897" y="3862477"/>
            <a:ext cx="87861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Evaluate Subscription Model:</a:t>
            </a:r>
            <a:r>
              <a:rPr b="0" i="0" lang="en-US" sz="18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Assess the effectiveness of the current subscription program.</a:t>
            </a:r>
            <a:endParaRPr sz="1600"/>
          </a:p>
        </p:txBody>
      </p:sp>
      <p:sp>
        <p:nvSpPr>
          <p:cNvPr id="95" name="Google Shape;95;p14"/>
          <p:cNvSpPr txBox="1"/>
          <p:nvPr/>
        </p:nvSpPr>
        <p:spPr>
          <a:xfrm>
            <a:off x="2123897" y="4837363"/>
            <a:ext cx="87861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Provide Actionable Insights:</a:t>
            </a:r>
            <a:r>
              <a:rPr b="0" i="0" lang="en-US" sz="18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Optimize marketing spend and product placement for growth.</a:t>
            </a:r>
            <a:endParaRPr sz="1600"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7311" y="1822572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25" y="2878186"/>
            <a:ext cx="3175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8300" y="3905277"/>
            <a:ext cx="28575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95433" y="4851633"/>
            <a:ext cx="2143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Project Overview &amp;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7331"/>
            <a:ext cx="528637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67331"/>
            <a:ext cx="5286375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49391" y="2857856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CC9F0"/>
                </a:solidFill>
                <a:latin typeface="Poppins"/>
                <a:ea typeface="Poppins"/>
                <a:cs typeface="Poppins"/>
                <a:sym typeface="Poppins"/>
              </a:rPr>
              <a:t>Scope &amp; Structure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3505556"/>
            <a:ext cx="450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Rows: 3,500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Columns: 18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Missing Data: 37 (Review Rating)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12016" y="2857856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CC9F0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24650" y="3505556"/>
            <a:ext cx="450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Demographics (Age, Gender, Location)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Purchase Details (Item, Category, Amount)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Behavior (Discount, Frequency, Rating)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Dataset at a Glance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8862"/>
            <a:ext cx="34290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28862"/>
            <a:ext cx="34290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28862"/>
            <a:ext cx="34290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465897" y="3338512"/>
            <a:ext cx="164020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CC9F0"/>
                </a:solidFill>
                <a:latin typeface="Poppins"/>
                <a:ea typeface="Poppins"/>
                <a:cs typeface="Poppins"/>
                <a:sym typeface="Poppins"/>
              </a:rPr>
              <a:t>Load &amp; Clean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9862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Imported data with pandas, checked `df.info()`, and imputed missing 'Review Rating' values using the category median.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330904" y="3338512"/>
            <a:ext cx="15301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CC9F0"/>
                </a:solidFill>
                <a:latin typeface="Poppins"/>
                <a:ea typeface="Poppins"/>
                <a:cs typeface="Poppins"/>
                <a:sym typeface="Poppins"/>
              </a:rPr>
              <a:t>Standardize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76775" y="39862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Renamed columns to snake_case for readability. Checked for and removed the redundant 'promo_code_used' column.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905875" y="3338512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CC9F0"/>
                </a:solidFill>
                <a:latin typeface="Poppins"/>
                <a:ea typeface="Poppins"/>
                <a:cs typeface="Poppins"/>
                <a:sym typeface="Poppins"/>
              </a:rPr>
              <a:t>Engineer &amp; Load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86775" y="3986212"/>
            <a:ext cx="283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Created 'age_group' from customer ages. Loaded the final cleaned </a:t>
            </a: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Data Frame 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into a PostgreSQL database for SQL analysis.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5975" y="26431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0" y="26431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Data Preparation Pipeline (Python)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0109" y="1488523"/>
            <a:ext cx="11049000" cy="4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123950" y="4038898"/>
            <a:ext cx="99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analysis shows that Male customers generate significantly higher total revenue ($157,890) compared to Female customers ($51,105).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SQL Insight: Revenue by Gender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633537" y="5595937"/>
            <a:ext cx="89249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significant majority of the customer base (69.91%) are non-subscribers, highlighting a major opportunity for conversion.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SQL Insight: Subscription Status Distribution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9725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1123950" y="4491037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customer base is overwhelmingly 'Loyal' (2802 customers), indicating strong retention. 'New' customer acquisition is a smaller segment (70 customers).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SQL Insight: Customer Segmentation by Purchase History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0"/>
          <p:cNvGraphicFramePr/>
          <p:nvPr/>
        </p:nvGraphicFramePr>
        <p:xfrm>
          <a:off x="571500" y="1762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{E2EC5F5E-4E96-4C25-8DBB-0ED721565026}</a:tableStyleId>
              </a:tblPr>
              <a:tblGrid>
                <a:gridCol w="4238925"/>
                <a:gridCol w="2649300"/>
                <a:gridCol w="4160775"/>
              </a:tblGrid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5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Analysis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5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Product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5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4E"/>
                    </a:solidFill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Rated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 Gloves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3.89 avg. rating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Rated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 Sandals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3.85 avg. rating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Rated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 Hat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3.84 avg. rating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Discount-Dependent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 Hat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59.00% discount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Discount-Dependent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 Sneakers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55.00% discount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Discount-Dependent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 Coat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0E0E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52.00% discount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A3A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20"/>
          <p:cNvSpPr/>
          <p:nvPr/>
        </p:nvSpPr>
        <p:spPr>
          <a:xfrm>
            <a:off x="571500" y="2386012"/>
            <a:ext cx="4238922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810422" y="2386012"/>
            <a:ext cx="2649289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7459712" y="2386012"/>
            <a:ext cx="4160787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71500" y="2995612"/>
            <a:ext cx="4238922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810422" y="2995612"/>
            <a:ext cx="2649289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459712" y="2995612"/>
            <a:ext cx="4160787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71500" y="3605212"/>
            <a:ext cx="4238922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810422" y="3605212"/>
            <a:ext cx="2649289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7459712" y="3605212"/>
            <a:ext cx="4160787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71500" y="4214812"/>
            <a:ext cx="4238922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810422" y="4214812"/>
            <a:ext cx="2649289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7459712" y="4214812"/>
            <a:ext cx="4160787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71500" y="4824412"/>
            <a:ext cx="4238922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810422" y="4824412"/>
            <a:ext cx="2649289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459712" y="4824412"/>
            <a:ext cx="4160787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71500" y="5434012"/>
            <a:ext cx="4238922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810422" y="5434012"/>
            <a:ext cx="2649289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7459712" y="5434012"/>
            <a:ext cx="4160787" cy="9525"/>
          </a:xfrm>
          <a:prstGeom prst="rect">
            <a:avLst/>
          </a:prstGeom>
          <a:solidFill>
            <a:srgbClr val="3A3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SQL Insight: Key Product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 title="Customer Trend Dashboard_page-0001.jpg"/>
          <p:cNvPicPr preferRelativeResize="0"/>
          <p:nvPr/>
        </p:nvPicPr>
        <p:blipFill rotWithShape="1">
          <a:blip r:embed="rId3">
            <a:alphaModFix/>
          </a:blip>
          <a:srcRect b="4281" l="1470" r="3671" t="4042"/>
          <a:stretch/>
        </p:blipFill>
        <p:spPr>
          <a:xfrm>
            <a:off x="500225" y="784100"/>
            <a:ext cx="11208274" cy="594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857250" y="4029075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857250" y="4476750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00225" y="158025"/>
            <a:ext cx="1008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FE2F3"/>
                </a:solidFill>
                <a:latin typeface="Poppins"/>
                <a:ea typeface="Poppins"/>
                <a:cs typeface="Poppins"/>
                <a:sym typeface="Poppins"/>
              </a:rPr>
              <a:t>Visualizing the Insights: Power BI Dashboard</a:t>
            </a:r>
            <a:endParaRPr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Visualizing the Insights: Power BI Dashboard</a:t>
            </a:r>
            <a:endParaRPr/>
          </a:p>
        </p:txBody>
      </p:sp>
      <p:pic>
        <p:nvPicPr>
          <p:cNvPr descr="image.png" id="196" name="Google Shape;19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71500" y="2131870"/>
            <a:ext cx="5286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All SQL analyses and data points were consolidated into this interactive Power BI dashboard.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3094640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Key Performance Indicators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3723290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Total Revenue: 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$209K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4113815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Total Customers: 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3.5K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4504340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Avg. Purchase Amount: 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$59.71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4894865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Avg. Review Rating: 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3.75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703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2009775" y="1964499"/>
            <a:ext cx="86292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Monetize Subscribers:</a:t>
            </a:r>
            <a:r>
              <a:rPr b="0" i="0" lang="en-US" sz="18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Leverage higher AOV from subscribers by introducing tiered benefits and exclusive, higher-priced product lines.</a:t>
            </a:r>
            <a:endParaRPr sz="1600"/>
          </a:p>
        </p:txBody>
      </p:sp>
      <p:sp>
        <p:nvSpPr>
          <p:cNvPr id="209" name="Google Shape;209;p23"/>
          <p:cNvSpPr txBox="1"/>
          <p:nvPr/>
        </p:nvSpPr>
        <p:spPr>
          <a:xfrm>
            <a:off x="2009700" y="3168069"/>
            <a:ext cx="86292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Build Customer Loyalty:</a:t>
            </a:r>
            <a:r>
              <a:rPr b="0" i="0" lang="en-US" sz="18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Design targeted campaigns to convert 'Returning' customers into the 'Loyal' segment, capitalizing on their high subscription correlation.</a:t>
            </a:r>
            <a:endParaRPr sz="1600"/>
          </a:p>
        </p:txBody>
      </p:sp>
      <p:sp>
        <p:nvSpPr>
          <p:cNvPr id="210" name="Google Shape;210;p23"/>
          <p:cNvSpPr txBox="1"/>
          <p:nvPr/>
        </p:nvSpPr>
        <p:spPr>
          <a:xfrm>
            <a:off x="2009850" y="4706334"/>
            <a:ext cx="86292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Review Discount Policy:</a:t>
            </a:r>
            <a:r>
              <a:rPr b="0" i="0" lang="en-US" sz="18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Re-evaluate the discount strategy, especially for products like 'Hat', to balance sales volume with profit margin control.</a:t>
            </a:r>
            <a:endParaRPr sz="1600"/>
          </a:p>
        </p:txBody>
      </p:sp>
      <p:pic>
        <p:nvPicPr>
          <p:cNvPr descr="image.png" id="211" name="Google Shape;2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1825" y="2034298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3250" y="3229395"/>
            <a:ext cx="35718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1830" y="4706331"/>
            <a:ext cx="285750" cy="32657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Business Recommendations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2027450" y="2133975"/>
            <a:ext cx="8739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Optimize Product Positioning:</a:t>
            </a:r>
            <a:r>
              <a:rPr b="0" i="0" lang="en-US" sz="19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Prominently feature top-rated (Gloves, Sandals) and best-selling products in marketing campaigns and on the homepage.</a:t>
            </a:r>
            <a:endParaRPr sz="1700"/>
          </a:p>
        </p:txBody>
      </p:sp>
      <p:sp>
        <p:nvSpPr>
          <p:cNvPr id="221" name="Google Shape;221;p24"/>
          <p:cNvSpPr txBox="1"/>
          <p:nvPr/>
        </p:nvSpPr>
        <p:spPr>
          <a:xfrm>
            <a:off x="2027450" y="3648610"/>
            <a:ext cx="87399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4F4F4"/>
                </a:solidFill>
                <a:latin typeface="Lato"/>
                <a:ea typeface="Lato"/>
                <a:cs typeface="Lato"/>
                <a:sym typeface="Lato"/>
              </a:rPr>
              <a:t>Implement Targeted Marketing:</a:t>
            </a:r>
            <a:r>
              <a:rPr b="0" i="0" lang="en-US" sz="19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Focus marketing efforts on the most valuable segments identified: high-revenue age groups (Middle-aged) and users who prefer Express shipping.</a:t>
            </a:r>
            <a:endParaRPr sz="1700"/>
          </a:p>
        </p:txBody>
      </p:sp>
      <p:pic>
        <p:nvPicPr>
          <p:cNvPr descr="image.png" id="222" name="Google Shape;2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1792" y="2105459"/>
            <a:ext cx="345900" cy="34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6044" y="3648603"/>
            <a:ext cx="345900" cy="34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Business Recommendations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295275" y="2490787"/>
            <a:ext cx="11601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 you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10736400" y="6532575"/>
            <a:ext cx="145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0E0E0"/>
                </a:solidFill>
                <a:latin typeface="Caveat"/>
                <a:ea typeface="Caveat"/>
                <a:cs typeface="Caveat"/>
                <a:sym typeface="Caveat"/>
              </a:rPr>
              <a:t>By Sahabaz Khan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